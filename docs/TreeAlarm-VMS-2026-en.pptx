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88" r:id="rId39"/>
    <p:sldId id="262" r:id="rId13"/>
    <p:sldId id="263" r:id="rId14"/>
    <p:sldId id="264" r:id="rId15"/>
    <p:sldId id="265" r:id="rId16"/>
    <p:sldId id="266" r:id="rId17"/>
    <p:sldId id="267" r:id="rId18"/>
    <p:sldId id="289" r:id="rId40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210" y="777240"/>
            <a:ext cx="3979448" cy="2651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2331720"/>
            <a:ext cx="749807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1F2933"/>
                </a:solidFill>
                <a:latin typeface="Calibri"/>
              </a:rPr>
              <a:t>TreeAlarm VMS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520440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3E4C59"/>
                </a:solidFill>
                <a:latin typeface="Calibri"/>
              </a:rPr>
              <a:t>Video surveillance: recording, archive, and automatic search for people and vehicles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4617720"/>
            <a:ext cx="1463040" cy="54864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98348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B8794"/>
                </a:solidFill>
                <a:latin typeface="Calibri"/>
              </a:rPr>
              <a:t>System overview · new: the camera follows an object by itself · finding a person across every camera · less disk space used · link with the TreeAlarm monitoring map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What this is about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10454335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What the system does, and how an ordinary person — an operator or a guard — uses it.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New: the camera follows an object in the frame by itself, and a person or a vehicle can be looked for across every camera at once.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New: the archive shrinks itself — what matters in the frame stays sharp, and noticeably less space is needed.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How the cameras link to the TreeAlarm monitoring map — a separate, optional capability.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What it costs and how to install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6291E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97180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What the system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5196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AA5B1"/>
                </a:solidFill>
                <a:latin typeface="Calibri"/>
              </a:rPr>
              <a:t>In plain words — no technical detail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In short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10454335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Connects ordinary IP cameras¹ and records video from them around the clock.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Shows the live picture in a browser and lets you rewind the archive to any moment — like a video recorder, but across all cameras at once.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Notices people, faces and vehicles in the frame by itself and marks those moments, so nobody has to watch a whole day for two minutes of it.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Runs on your own server. The video goes nowhere, and it needs neither a subscription nor an internet connection to work.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The system is free to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What you get out of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10454335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The moment you need is found in minutes, not hours: the system has already marked when someone was in the frame.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You do not need a person watching monitors all day — the marked events are enough to look at.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Nothing depends on someone else's cloud: no paying for storage, no risk of the footage vanishing with someone else's service.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Almost any cameras will do: if a camera speaks ONVIF² — and nearly every camera of recent years does — what is already installed need not be replaced.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The archive takes less space, which means it is kept longer on the same disks.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Several cameras on one screen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5989320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The screen is split into 2, 4, 6, 8, 9, 12 or 16 cells — whatever is comfortable. An administrator defines the set of cameras; the operator simply opens a ready-made screen.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Each cell is independent: leave one live, rewind another into the past, blow a third up to full screen.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A pan-tilt-zoom camera (PTZ³) is driven right from here — turn it, zoom in, jump to a saved viewpoint.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Any member of staff can assemble a temporary screen of the cameras they need to look into an incident, and hand it over to a colleague.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Each cell takes the stream that fits its own size, so even a wall of sixteen cameras does not choke.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00316" y="1957101"/>
            <a:ext cx="4437583" cy="2797492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ideo-w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989105"/>
            <a:ext cx="4373575" cy="27334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0" y="4923758"/>
            <a:ext cx="437357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B8794"/>
                </a:solidFill>
                <a:latin typeface="Calibri"/>
              </a:rPr>
              <a:t>Four cameras on one screen. The bars at the bottom show which stretches of time were recorded.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Finding the moment you need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10454335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All the cameras on the screen rewind together, with one control: you see the same moment from every angle at once.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You can go to a specific date and time, step half a minute back or forward, or skip to the previous day that has any recording at all.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Below the picture there is a timeline: you see at a glance where recordings exist, where the camera was off, and where the system marked events.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One click from the event list and you are already watching that moment from every camera.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How the system decides when to record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5989320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Record all the time — the simplest option: record while the camera is on.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Record only on alarm — and here is the point: the system always holds the last few seconds in memory, so the recording keeps what happened before the trigger, not only after it.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Do not record at all — for a camera that is only ever watched live. Recording and detection begin once the camera is armed⁴.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How many seconds to keep before the event and how many after is set with ordinary numbers in the settings.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00316" y="2317921"/>
            <a:ext cx="4437583" cy="2075852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cording-profil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349925"/>
            <a:ext cx="4373575" cy="20118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0" y="4562938"/>
            <a:ext cx="437357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B8794"/>
                </a:solidFill>
                <a:latin typeface="Calibri"/>
              </a:rPr>
              <a:t>Three ready-made recording modes. They can be adjusted, and more can be added.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Recording schedule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5989320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0">
                <a:solidFill>
                  <a:srgbClr val="3E4C59"/>
                </a:solidFill>
                <a:latin typeface="Calibri"/>
              </a:rPr>
              <a:t>•   The schedule is painted with the mouse on a weekly grid: shade the working hours and that is when recording happens.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0">
                <a:solidFill>
                  <a:srgbClr val="3E4C59"/>
                </a:solidFill>
                <a:latin typeface="Calibri"/>
              </a:rPr>
              <a:t>•   If you need to be exact, hours and minutes can be typed in, and one-off dates — holidays, single events — set separately.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0">
                <a:solidFill>
                  <a:srgbClr val="3E4C59"/>
                </a:solidFill>
                <a:latin typeface="Calibri"/>
              </a:rPr>
              <a:t>•   Recording can start slightly before the shift begins, so the first minutes are not lost.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00316" y="2382310"/>
            <a:ext cx="4437583" cy="1947075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cording-schedu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414314"/>
            <a:ext cx="4373575" cy="18830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0" y="4498549"/>
            <a:ext cx="437357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B8794"/>
                </a:solidFill>
                <a:latin typeface="Calibri"/>
              </a:rPr>
              <a:t>Business hours painted across the week with the mouse.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Disks and reliable storage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10454335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0">
                <a:solidFill>
                  <a:srgbClr val="3E4C59"/>
                </a:solidFill>
                <a:latin typeface="Calibri"/>
              </a:rPr>
              <a:t>•   A camera is given not one disk but several, in order. If the first is full or has gone away, recording moves to the next by itself and nothing is lost.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0">
                <a:solidFill>
                  <a:srgbClr val="3E4C59"/>
                </a:solidFill>
                <a:latin typeface="Calibri"/>
              </a:rPr>
              <a:t>•   You can add as many disks as you need, network storage included.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0">
                <a:solidFill>
                  <a:srgbClr val="3E4C59"/>
                </a:solidFill>
                <a:latin typeface="Calibri"/>
              </a:rPr>
              <a:t>•   Old recordings and event images are deleted automatically — by age and by space used — so the disk does not quietly fill up.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0">
                <a:solidFill>
                  <a:srgbClr val="3E4C59"/>
                </a:solidFill>
                <a:latin typeface="Calibri"/>
              </a:rPr>
              <a:t>•   If there is nowhere to write — no disk assigned, a disk not answering, or one taken out of service — the system says so at once and names the reason.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0">
                <a:solidFill>
                  <a:srgbClr val="3E4C59"/>
                </a:solidFill>
                <a:latin typeface="Calibri"/>
              </a:rPr>
              <a:t>•   The camera list shows which camera is recording right now and which one merely has footage kept.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The system watches the camera for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5989320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The system can find people, faces and vehicles in the frame. Nothing needs to be downloaded or set up separately — it is all inside.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It is switched on per camera: vehicles matter in one place, people in another, and some cameras need not be loaded at all.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The settings are simple: what to look for, how confident the system must be, and how often to look at the picture.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The camera need not be armed for this: one that simply records around the clock is marked up with events too.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It runs on an ordinary server; a graphics card is optional. Detection takes its own stream from the camera, so it does not steal the picture from the operator.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00316" y="1970118"/>
            <a:ext cx="4437583" cy="277145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nalytic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002122"/>
            <a:ext cx="4373575" cy="27074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0" y="4910741"/>
            <a:ext cx="437357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B8794"/>
                </a:solidFill>
                <a:latin typeface="Calibri"/>
              </a:rPr>
              <a:t>Setting up detection for one camera: what to look for and how strict to be.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What the operator sees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10454335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A list of events: when, on which camera, how long it lasted, with small pictures showing what was there.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On live video a frame is drawn around the person or vehicle, so it is immediately clear what the system noticed.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A person who walks past five cameras stays one event, not five. The system recognises them by appearance and links the sightings together — including when they leave the frame and come back.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From any event, one click into the archive lands exactly on that moment.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How cameras are added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5989320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0">
                <a:solidFill>
                  <a:srgbClr val="3E4C59"/>
                </a:solidFill>
                <a:latin typeface="Calibri"/>
              </a:rPr>
              <a:t>•   The system searches the network for cameras and shows what it found — you just pick the ones you want. If a camera is not found, it can be added by address by hand.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0">
                <a:solidFill>
                  <a:srgbClr val="3E4C59"/>
                </a:solidFill>
                <a:latin typeface="Calibri"/>
              </a:rPr>
              <a:t>•   Here too you say, for each camera, which disks to record to and on what schedule.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0">
                <a:solidFill>
                  <a:srgbClr val="3E4C59"/>
                </a:solidFill>
                <a:latin typeface="Calibri"/>
              </a:rPr>
              <a:t>•   A plain video file can stand in for a camera, and the system will treat it exactly like one. Handy for showing the system to a customer, or for going through an incident that is already recorded.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00316" y="2169706"/>
            <a:ext cx="4437583" cy="2372283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mera-set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201710"/>
            <a:ext cx="4373575" cy="2308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0" y="4711153"/>
            <a:ext cx="437357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B8794"/>
                </a:solidFill>
                <a:latin typeface="Calibri"/>
              </a:rPr>
              <a:t>On the left, the list of cameras; on the right, the settings of the selected one and its live picture.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Setting up the camera itself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5989320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0">
                <a:solidFill>
                  <a:srgbClr val="3E4C59"/>
                </a:solidFill>
                <a:latin typeface="Calibri"/>
              </a:rPr>
              <a:t>•   There is no need to go into each camera's own web interface: picture quality, brightness, sound, movement and relays are all set from one place.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0">
                <a:solidFill>
                  <a:srgbClr val="3E4C59"/>
                </a:solidFill>
                <a:latin typeface="Calibri"/>
              </a:rPr>
              <a:t>•   Only the settings the camera actually supports are shown — nothing extra, and nothing that would fail.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0">
                <a:solidFill>
                  <a:srgbClr val="3E4C59"/>
                </a:solidFill>
                <a:latin typeface="Calibri"/>
              </a:rPr>
              <a:t>•   The camera's clock is set from here too. That matters more than it looks: if the clock is ten minutes out, the footage lands at the wrong time in the archive and becomes hard to find.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00316" y="2382310"/>
            <a:ext cx="4437583" cy="1947075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nvif-confi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414314"/>
            <a:ext cx="4373575" cy="18830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0" y="4498549"/>
            <a:ext cx="437357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B8794"/>
                </a:solidFill>
                <a:latin typeface="Calibri"/>
              </a:rPr>
              <a:t>Quality settings read from the camera, with its live picture alongside.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Alarms from the cameras themselves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10454335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0">
                <a:solidFill>
                  <a:srgbClr val="3E4C59"/>
                </a:solidFill>
                <a:latin typeface="Calibri"/>
              </a:rPr>
              <a:t>•   Many cameras can notice movement, a line being crossed, entry into a forbidden area, or a sensor being triggered.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0">
                <a:solidFill>
                  <a:srgbClr val="3E4C59"/>
                </a:solidFill>
                <a:latin typeface="Calibri"/>
              </a:rPr>
              <a:t>•   The system takes those signals, starts recording on them, and files them in the same event list as what it found itself.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0">
                <a:solidFill>
                  <a:srgbClr val="3E4C59"/>
                </a:solidFill>
                <a:latin typeface="Calibri"/>
              </a:rPr>
              <a:t>•   Ready-made presets for the usual cases are included, and you can see exactly what the camera sends — so setting it up is quick even with an unfamiliar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Who is allowed to see what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10454335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Sign-in can be turned on, or left off — in a small closed network, for instance.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Rights are given per camera and per action: watch live, watch the archive, move the camera, control it, download recordings.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Downloading a recording is a separate right. You can allow watching the archive while forbidding taking it off site.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Rights are enforced on the server, not merely by hiding buttons: knowing the address does not get you around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6291E"/>
                </a:solidFill>
                <a:latin typeface="Calibri"/>
              </a:rPr>
              <a:t>PART 2 · NEW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97180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The archive now takes less 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5196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AA5B1"/>
                </a:solidFill>
                <a:latin typeface="Calibri"/>
              </a:rPr>
              <a:t>What matters in the frame stays sharp, everything else is squeezed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What the problem was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10454335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A video archive is disks, and disks run out. The longer you must keep the footage, the more money goes into hardware.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Ordinary video compression does not know what matters in the frame. An empty wall and the plate of an arriving car are stored in equal detail.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Yet the system already knows where the person or the vehicle was — it found them there itself.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So only those places need to be stored in detail, and everything else can be simpler.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709928"/>
            <a:ext cx="1929932" cy="1051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933"/>
                </a:solidFill>
                <a:latin typeface="Calibri"/>
              </a:rPr>
              <a:t>The camera records</a:t>
            </a:r>
            <a:br/>
            <a:r>
              <a:rPr sz="1300" b="1">
                <a:solidFill>
                  <a:srgbClr val="1F2933"/>
                </a:solidFill>
                <a:latin typeface="Calibri"/>
              </a:rPr>
              <a:t>as usual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66024" y="2144268"/>
            <a:ext cx="192024" cy="182880"/>
          </a:xfrm>
          <a:prstGeom prst="rightArrow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08340" y="1709928"/>
            <a:ext cx="1929932" cy="1051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933"/>
                </a:solidFill>
                <a:latin typeface="Calibri"/>
              </a:rPr>
              <a:t>The system spots</a:t>
            </a:r>
            <a:br/>
            <a:r>
              <a:rPr sz="1300" b="1">
                <a:solidFill>
                  <a:srgbClr val="1F2933"/>
                </a:solidFill>
                <a:latin typeface="Calibri"/>
              </a:rPr>
              <a:t>people and vehicles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88565" y="2144268"/>
            <a:ext cx="192024" cy="182880"/>
          </a:xfrm>
          <a:prstGeom prst="rightArrow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30881" y="1709928"/>
            <a:ext cx="1929932" cy="1051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933"/>
                </a:solidFill>
                <a:latin typeface="Calibri"/>
              </a:rPr>
              <a:t>Later, unhurried,</a:t>
            </a:r>
            <a:br/>
            <a:r>
              <a:rPr sz="1300" b="1">
                <a:solidFill>
                  <a:srgbClr val="1F2933"/>
                </a:solidFill>
                <a:latin typeface="Calibri"/>
              </a:rPr>
              <a:t>it re-compresses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11105" y="2144268"/>
            <a:ext cx="192024" cy="182880"/>
          </a:xfrm>
          <a:prstGeom prst="rightArrow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53421" y="1709928"/>
            <a:ext cx="1929932" cy="1051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933"/>
                </a:solidFill>
                <a:latin typeface="Calibri"/>
              </a:rPr>
              <a:t>What matters</a:t>
            </a:r>
            <a:br/>
            <a:r>
              <a:rPr sz="1300" b="1">
                <a:solidFill>
                  <a:srgbClr val="1F2933"/>
                </a:solidFill>
                <a:latin typeface="Calibri"/>
              </a:rPr>
              <a:t>stayed sharp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33646" y="2144268"/>
            <a:ext cx="192024" cy="182880"/>
          </a:xfrm>
          <a:prstGeom prst="rightArrow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75962" y="1709928"/>
            <a:ext cx="1929932" cy="1051560"/>
          </a:xfrm>
          <a:prstGeom prst="roundRect">
            <a:avLst/>
          </a:prstGeom>
          <a:solidFill>
            <a:srgbClr val="D6291E"/>
          </a:solidFill>
          <a:ln w="1270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The file takes</a:t>
            </a:r>
            <a:br/>
            <a:r>
              <a:rPr sz="1300" b="1">
                <a:solidFill>
                  <a:srgbClr val="FFFFFF"/>
                </a:solidFill>
                <a:latin typeface="Calibri"/>
              </a:rPr>
              <a:t>half the 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64407"/>
            <a:ext cx="10545775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Live recording is untouched: the camera records as it always did. Re-compression happens afterwards — it can be set to run at night or at the weekend, when the server is free.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If nothing happened in a recording, it is not touched at all: there is nothing to save there, and re-compressing video for no reason only makes it worse.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It all happens by itself, on a schedule. Nothing is required of the operator.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What came out of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oi_chart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933" y="1527048"/>
            <a:ext cx="7445828" cy="2606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407407"/>
            <a:ext cx="10545775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Recordings where something happened weigh less: almost half on the test scene, a fifth on a real archive.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The saving grows the smaller the share of the frame that has to stay sharp.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On the same disk the archive lives twelve to seventeen days instead of ten.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Quality where a person or vehicle was does not drop; with nothing to gain, the original is kept.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925312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B8794"/>
                </a:solidFill>
                <a:latin typeface="Calibri"/>
              </a:rPr>
              <a:t>HEVC and H.264⁵ are two common ways of compressing video; both were tested. The chart is a 1280×720 test recording; on a 2688×1520 clip from a real archive the saving is about a fifth. Recordings where nothing happened are not re-compressed.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The licence plate reads the same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5989320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0">
                <a:solidFill>
                  <a:srgbClr val="3E4C59"/>
                </a:solidFill>
                <a:latin typeface="Calibri"/>
              </a:rPr>
              <a:t>•   Exactly what the recording exists for — a plate, a face, someone at a door — stays readable.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0">
                <a:solidFill>
                  <a:srgbClr val="3E4C59"/>
                </a:solidFill>
                <a:latin typeface="Calibri"/>
              </a:rPr>
              <a:t>•   What gets worse is what there was nothing to look at: tarmac, a wall, the sky.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0">
                <a:solidFill>
                  <a:srgbClr val="3E4C59"/>
                </a:solidFill>
                <a:latin typeface="Calibri"/>
              </a:rPr>
              <a:t>•   We checked separately that the quality margin is not taken tight around the object but with a margin around it: that is safer, and it costs almost nothing in space.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00316" y="2913821"/>
            <a:ext cx="4437583" cy="884053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late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945825"/>
            <a:ext cx="4373575" cy="8200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0" y="3967038"/>
            <a:ext cx="437357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B8794"/>
                </a:solidFill>
                <a:latin typeface="Calibri"/>
              </a:rPr>
              <a:t>The same frame: on the left the recording was stored as usual, on the right after re-compression, in half the file size.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What the administrator sets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10454335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Whether to switch it on is decided per camera. In some places the saving is significant, in others it is not needed at all.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How many hours after recording it may be re-compressed — so that fresh footage, which is exactly what people are looking at, is left alone.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How much of the frame the objects must take up for a recording to be touched at all: if someone is standing right against the camera, there is nothing to save from.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The interface shows which stretches of the archive are already re-compressed, so the operator always knows what they are looking 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6291E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97180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Link with the monitoring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5196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AA5B1"/>
                </a:solidFill>
                <a:latin typeface="Calibri"/>
              </a:rPr>
              <a:t>Cameras as objects on the TreeAlarm map. A separate and optional capability.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TreeAlarm — a map of how things 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5989320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TreeAlarm shows objects on a map — buildings, rooms, equipment, sensors — and their state.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Objects nest inside one another: city, plant, workshop, server room, sensor. An alarm travels upwards, so a problem is visible on the overview at once, and then you can drill down to the exact sensor.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Not only the current state is kept but the whole history: you can go back a week and see what was happening and what led to what.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There is an event log, floor plans for objects with no place on a map, and small extra modules — polling equipment over the network, for example.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00316" y="2368734"/>
            <a:ext cx="4437583" cy="1974226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a-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400738"/>
            <a:ext cx="4373575" cy="19102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0" y="4512125"/>
            <a:ext cx="437357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B8794"/>
                </a:solidFill>
                <a:latin typeface="Calibri"/>
              </a:rPr>
              <a:t>The general view: objects on the map, their state shown by colour.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History and the event log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3796" y="1773380"/>
            <a:ext cx="5245455" cy="2479135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a-ret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05384"/>
            <a:ext cx="5181447" cy="24151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4403391"/>
            <a:ext cx="518144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B8794"/>
                </a:solidFill>
                <a:latin typeface="Calibri"/>
              </a:rPr>
              <a:t>Searching the history: where objects were over a chosen period.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92443" y="1713032"/>
            <a:ext cx="5245455" cy="259983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a-even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47" y="1745036"/>
            <a:ext cx="5181447" cy="253582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4447" y="4463739"/>
            <a:ext cx="518144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B8794"/>
                </a:solidFill>
                <a:latin typeface="Calibri"/>
              </a:rPr>
              <a:t>The event log with search and attached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66360"/>
            <a:ext cx="1054577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Not only how things are now is kept, but how they were — for any day in the past.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You can search both by parameters and by an area of the map.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What the link gives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5989320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Cameras appear on the map as objects by themselves — there is no need to enter them a second time by hand.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Click a camera on the map and you immediately see its live video, or rewind its archive.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From the map you can turn the camera, arm it, and start recording.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Camera alarms land in the shared event log next to readings from the rest of the equipment, so there is one picture of the site.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Sign-in is shared: a member of staff already signed into the monitoring system does not log in a second time.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If the link is not wanted, it is simply switched off, and the video system works on its own.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00316" y="2302141"/>
            <a:ext cx="4437583" cy="2107413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a-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334145"/>
            <a:ext cx="4373575" cy="20434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0" y="4578718"/>
            <a:ext cx="437357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B8794"/>
                </a:solidFill>
                <a:latin typeface="Calibri"/>
              </a:rPr>
              <a:t>The TreeAlarm interface: the object list, the map, and the properties of the selected object.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Installation and cost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10454335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It installs on one ordinary server⁶ running Linux with a single command — the system is packaged with Docker⁷. No dedicated video specialist is needed.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Everything is kept on your side: recordings, settings and the database. Stopping and starting the system does not lose recordings.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Nothing is pre-configured: you add your cameras, choose a disk and a schedule, and the system runs.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The system is free to use. The source code is provided on request.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What is needed from you: a server, disk space for the archive, and a network reaching the cameras. For a dozen cameras an inexpensive machine is enough.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Glossary: the words with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572768"/>
          <a:ext cx="10820095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625535"/>
              </a:tblGrid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1F2933"/>
                          </a:solidFill>
                          <a:latin typeface="Calibri"/>
                        </a:rPr>
                        <a:t>¹ IP camera</a:t>
                      </a:r>
                    </a:p>
                  </a:txBody>
                  <a:tcPr marL="146304" marR="146304" marT="64008" marB="6400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3E4C59"/>
                          </a:solidFill>
                          <a:latin typeface="Calibri"/>
                        </a:rPr>
                        <a:t>A camera that joins the network like a computer and sends video over a cable or Wi-Fi. An old analogue camera needs a converter first.</a:t>
                      </a:r>
                    </a:p>
                  </a:txBody>
                  <a:tcPr marL="146304" marR="146304" marT="64008" marB="64008" anchor="ctr">
                    <a:solidFill>
                      <a:srgbClr val="F5F7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1F2933"/>
                          </a:solidFill>
                          <a:latin typeface="Calibri"/>
                        </a:rPr>
                        <a:t>² ONVIF</a:t>
                      </a:r>
                    </a:p>
                  </a:txBody>
                  <a:tcPr marL="146304" marR="146304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3E4C59"/>
                          </a:solidFill>
                          <a:latin typeface="Calibri"/>
                        </a:rPr>
                        <a:t>The common language cameras of different makes speak. If a camera knows it, the system finds it on the network and configures it itself.</a:t>
                      </a:r>
                    </a:p>
                  </a:txBody>
                  <a:tcPr marL="146304" marR="146304" marT="64008" marB="6400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1F2933"/>
                          </a:solidFill>
                          <a:latin typeface="Calibri"/>
                        </a:rPr>
                        <a:t>³ PTZ</a:t>
                      </a:r>
                    </a:p>
                  </a:txBody>
                  <a:tcPr marL="146304" marR="146304" marT="64008" marB="6400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3E4C59"/>
                          </a:solidFill>
                          <a:latin typeface="Calibri"/>
                        </a:rPr>
                        <a:t>A camera that can be turned, tilted and zoomed remotely, without anyone walking up to it.</a:t>
                      </a:r>
                    </a:p>
                  </a:txBody>
                  <a:tcPr marL="146304" marR="146304" marT="64008" marB="64008" anchor="ctr">
                    <a:solidFill>
                      <a:srgbClr val="F5F7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1F2933"/>
                          </a:solidFill>
                          <a:latin typeface="Calibri"/>
                        </a:rPr>
                        <a:t>⁴ Armed</a:t>
                      </a:r>
                    </a:p>
                  </a:txBody>
                  <a:tcPr marL="146304" marR="146304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3E4C59"/>
                          </a:solidFill>
                          <a:latin typeface="Calibri"/>
                        </a:rPr>
                        <a:t>The mode in which the system pays attention to a camera: records on alarm and runs detection. A disarmed camera merely shows a picture.</a:t>
                      </a:r>
                    </a:p>
                  </a:txBody>
                  <a:tcPr marL="146304" marR="146304" marT="64008" marB="6400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1F2933"/>
                          </a:solidFill>
                          <a:latin typeface="Calibri"/>
                        </a:rPr>
                        <a:t>⁵ H.264 and HEVC</a:t>
                      </a:r>
                    </a:p>
                  </a:txBody>
                  <a:tcPr marL="146304" marR="146304" marT="64008" marB="6400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3E4C59"/>
                          </a:solidFill>
                          <a:latin typeface="Calibri"/>
                        </a:rPr>
                        <a:t>Two ways of compressing video. HEVC (also called H.265) is newer and squeezes harder; H.264 is older but every browser and phone understands it.</a:t>
                      </a:r>
                    </a:p>
                  </a:txBody>
                  <a:tcPr marL="146304" marR="146304" marT="64008" marB="64008" anchor="ctr">
                    <a:solidFill>
                      <a:srgbClr val="F5F7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1F2933"/>
                          </a:solidFill>
                          <a:latin typeface="Calibri"/>
                        </a:rPr>
                        <a:t>⁶ Server</a:t>
                      </a:r>
                    </a:p>
                  </a:txBody>
                  <a:tcPr marL="146304" marR="146304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3E4C59"/>
                          </a:solidFill>
                          <a:latin typeface="Calibri"/>
                        </a:rPr>
                        <a:t>An ordinary computer that runs around the clock with the system on it. No dedicated rack is required.</a:t>
                      </a:r>
                    </a:p>
                  </a:txBody>
                  <a:tcPr marL="146304" marR="146304" marT="64008" marB="6400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1F2933"/>
                          </a:solidFill>
                          <a:latin typeface="Calibri"/>
                        </a:rPr>
                        <a:t>⁷ Docker</a:t>
                      </a:r>
                    </a:p>
                  </a:txBody>
                  <a:tcPr marL="146304" marR="146304" marT="64008" marB="6400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3E4C59"/>
                          </a:solidFill>
                          <a:latin typeface="Calibri"/>
                        </a:rPr>
                        <a:t>A way of installing programs in one piece, together with everything they need. It is what reduces the installation to a single command.</a:t>
                      </a:r>
                    </a:p>
                  </a:txBody>
                  <a:tcPr marL="146304" marR="146304" marT="64008" marB="64008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6291E"/>
                </a:solidFill>
                <a:latin typeface="Calibr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97180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For technical specialists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5196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AA5B1"/>
                </a:solidFill>
                <a:latin typeface="Calibri"/>
              </a:rPr>
              <a:t>The same, with exact names and numbers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Technical properties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572768"/>
          <a:ext cx="10820095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619695"/>
              </a:tblGrid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1F2933"/>
                          </a:solidFill>
                          <a:latin typeface="Calibri"/>
                        </a:rPr>
                        <a:t>Camera input</a:t>
                      </a:r>
                    </a:p>
                  </a:txBody>
                  <a:tcPr marL="146304" marR="146304" marT="64008" marB="6400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E4C59"/>
                          </a:solidFill>
                          <a:latin typeface="Calibri"/>
                        </a:rPr>
                        <a:t>RTSP, device control over ONVIF</a:t>
                      </a:r>
                    </a:p>
                  </a:txBody>
                  <a:tcPr marL="146304" marR="146304" marT="64008" marB="64008" anchor="ctr"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1F2933"/>
                          </a:solidFill>
                          <a:latin typeface="Calibri"/>
                        </a:rPr>
                        <a:t>Live to browser</a:t>
                      </a:r>
                    </a:p>
                  </a:txBody>
                  <a:tcPr marL="146304" marR="146304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E4C59"/>
                          </a:solidFill>
                          <a:latin typeface="Calibri"/>
                        </a:rPr>
                        <a:t>WebRTC / WHEP through the gateway: the browser never addresses the media server directly. H.265 is passed through as received; re-encoding to H.264 runs on VA-API, falling back to CPU</a:t>
                      </a:r>
                    </a:p>
                  </a:txBody>
                  <a:tcPr marL="146304" marR="146304" marT="64008" marB="6400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1F2933"/>
                          </a:solidFill>
                          <a:latin typeface="Calibri"/>
                        </a:rPr>
                        <a:t>Archive</a:t>
                      </a:r>
                    </a:p>
                  </a:txBody>
                  <a:tcPr marL="146304" marR="146304" marT="64008" marB="6400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E4C59"/>
                          </a:solidFill>
                          <a:latin typeface="Calibri"/>
                        </a:rPr>
                        <a:t>Fragmented MP4, played back over HLS; H.264 and H.265 written as received, without re-encoding</a:t>
                      </a:r>
                    </a:p>
                  </a:txBody>
                  <a:tcPr marL="146304" marR="146304" marT="64008" marB="64008" anchor="ctr"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1F2933"/>
                          </a:solidFill>
                          <a:latin typeface="Calibri"/>
                        </a:rPr>
                        <a:t>Detection</a:t>
                      </a:r>
                    </a:p>
                  </a:txBody>
                  <a:tcPr marL="146304" marR="146304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E4C59"/>
                          </a:solidFill>
                          <a:latin typeface="Calibri"/>
                        </a:rPr>
                        <a:t>OpenVINO on CPU or GPU: YOLO11 (people, vehicles) and a separate face detector; appearance matching across cameras</a:t>
                      </a:r>
                    </a:p>
                  </a:txBody>
                  <a:tcPr marL="146304" marR="146304" marT="64008" marB="6400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1F2933"/>
                          </a:solidFill>
                          <a:latin typeface="Calibri"/>
                        </a:rPr>
                        <a:t>Archive re-compression</a:t>
                      </a:r>
                    </a:p>
                  </a:txBody>
                  <a:tcPr marL="146304" marR="146304" marT="64008" marB="6400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E4C59"/>
                          </a:solidFill>
                          <a:latin typeface="Calibri"/>
                        </a:rPr>
                        <a:t>Intel Quick Sync (VPL, mfxExtEncoderROI), VA-API or CPU (x265 / x264) — chosen automatically, a GPU is not required</a:t>
                      </a:r>
                    </a:p>
                  </a:txBody>
                  <a:tcPr marL="146304" marR="146304" marT="64008" marB="64008" anchor="ctr"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1F2933"/>
                          </a:solidFill>
                          <a:latin typeface="Calibri"/>
                        </a:rPr>
                        <a:t>Sign-in and rights</a:t>
                      </a:r>
                    </a:p>
                  </a:txBody>
                  <a:tcPr marL="146304" marR="146304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E4C59"/>
                          </a:solidFill>
                          <a:latin typeface="Calibri"/>
                        </a:rPr>
                        <a:t>Keycloak (optional), per-camera rights over five actions, enforced on the server on every request</a:t>
                      </a:r>
                    </a:p>
                  </a:txBody>
                  <a:tcPr marL="146304" marR="146304" marT="64008" marB="6400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1F2933"/>
                          </a:solidFill>
                          <a:latin typeface="Calibri"/>
                        </a:rPr>
                        <a:t>Deployment</a:t>
                      </a:r>
                    </a:p>
                  </a:txBody>
                  <a:tcPr marL="146304" marR="146304" marT="64008" marB="6400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E4C59"/>
                          </a:solidFill>
                          <a:latin typeface="Calibri"/>
                        </a:rPr>
                        <a:t>Docker Compose with prebuilt images; ports 5134/tcp, 8554/tcp, 8889/tcp and 8189/udp (WebRTC media)</a:t>
                      </a:r>
                    </a:p>
                  </a:txBody>
                  <a:tcPr marL="146304" marR="146304" marT="64008" marB="64008" anchor="ctr"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1F2933"/>
                          </a:solidFill>
                          <a:latin typeface="Calibri"/>
                        </a:rPr>
                        <a:t>Tracking and search</a:t>
                      </a:r>
                    </a:p>
                  </a:txBody>
                  <a:tcPr marL="146304" marR="146304" marT="64008" marB="6400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E4C59"/>
                          </a:solidFill>
                          <a:latin typeface="Calibri"/>
                        </a:rPr>
                        <a:t>One control loop per camera, target from CV/ONVIF detections, mount calibration; similarity search over Re-ID embeddings (person, face, vehicle, plate)</a:t>
                      </a:r>
                    </a:p>
                  </a:txBody>
                  <a:tcPr marL="146304" marR="146304" marT="64008" marB="64008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897880"/>
            <a:ext cx="108200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B8794"/>
                </a:solidFill>
                <a:latin typeface="Calibri"/>
              </a:rPr>
              <a:t>Browsers: an H.264 archive plays everywhere. H.265 needs Firefox with libavcodec-extra, Chrome on a system with current VA-API, or hardware decoding on macOS and Windows 11.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Architecture, and the re-compression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10454335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A set of small services communicating over gRPC; configuration changes propagate by published events rather than polling.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It scales sideways: several MediaMTX media routers, several recorder-plus-storage pairs across nodes, detection workers sharded by hash, and a replicated stateless web layer.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Re-compression: the zone around a detected object is given a negative QP delta and the background a positive one; rectangles are aligned to the encoder's block grid.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Measured on a 1280×720 test scene at CQP 28 on Intel Quick Sync: HEVC 8.38 → 4.82 MB (−42%), H.264 7.05 → 4.50 MB (−36%). On a 2688×1520 clip from a real archive, 39.55 → 31.23 MB: protection is spent against an area budget, or large objects make the file grow.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The margin around the box matters more than the strength of the boost: widening it from 0 to 64 px gains ten times more than tripling the QP delta, at the same file size.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Live HEVC→H.264 transcoding goes through the same library: decode and encode on VA-API, 43% less CPU per stream (i7-12700, iGPU). Where the browser understands H.265 there is no transcode at 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In short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10454335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0">
                <a:solidFill>
                  <a:srgbClr val="3E4C59"/>
                </a:solidFill>
                <a:latin typeface="Calibri"/>
              </a:rPr>
              <a:t>•   A finished video system: it records, stores, shows, and finds people and vehicles in the frame by itself. It installs on your server and works without an internet connection.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0">
                <a:solidFill>
                  <a:srgbClr val="3E4C59"/>
                </a:solidFill>
                <a:latin typeface="Calibri"/>
              </a:rPr>
              <a:t>•   New: the camera follows an object by itself, a person or a vehicle can be looked for across every camera at once, and the archive takes noticeably less space — while plates and faces stay readable.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0">
                <a:solidFill>
                  <a:srgbClr val="3E4C59"/>
                </a:solidFill>
                <a:latin typeface="Calibri"/>
              </a:rPr>
              <a:t>•   If you want, the cameras plug into the TreeAlarm monitoring map and become part of it. But the system is self-sufficient and runs on its own.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892040"/>
            <a:ext cx="10820095" cy="12344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4892040"/>
            <a:ext cx="82296" cy="1234440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138928"/>
            <a:ext cx="999713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3"/>
                </a:solidFill>
                <a:latin typeface="Calibri"/>
              </a:rPr>
              <a:t>Free to use · source code on request</a:t>
            </a:r>
            <a:br/>
            <a:r>
              <a:rPr sz="1600" b="1">
                <a:solidFill>
                  <a:srgbClr val="1F2933"/>
                </a:solidFill>
                <a:latin typeface="Calibri"/>
              </a:rPr>
              <a:t>treealarm.dev · Telegram: @treealarm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The camera follows the object by itself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10454335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The operator clicks a person or a vehicle in the picture, and the PTZ camera keeps it in frame from then on.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Or nobody clicks: the camera is told what to prefer, and picks a target by itself — around the clock, even when no one is watching.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It does not chase the centre of the frame, it only keeps the object from leaving it, so the picture is not twitched for nothing.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If the object disappears for a second, the camera recognises it by appearance and keeps following the same one, not the first one it sees.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Every camera is taught once, by the system itself: it turns the camera a little and watches which way the picture went. A camera mounted sideways is still driven the right 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Finding the same person on other cameras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10454335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Click a person in the picture, or a thumbnail in an event, and the system shows where else they were caught on camera, and when.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A photograph works too: upload one and the system looks for similar appearances in the archive.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It works for people, faces, vehicles and licence plates.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You set the period, the cameras, and how strict the likeness must be — stricter means less noise in the answer.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Every appearance found opens in the archive in one click, exactly at that moment.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It is a hint, not an identification: the system shows who looks similar, and the person decides.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