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88" r:id="rId39"/>
    <p:sldId id="262" r:id="rId13"/>
    <p:sldId id="263" r:id="rId14"/>
    <p:sldId id="264" r:id="rId15"/>
    <p:sldId id="265" r:id="rId16"/>
    <p:sldId id="266" r:id="rId17"/>
    <p:sldId id="267" r:id="rId18"/>
    <p:sldId id="289" r:id="rId40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210" y="777240"/>
            <a:ext cx="3979448" cy="2651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1560" y="2331720"/>
            <a:ext cx="749807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1F2933"/>
                </a:solidFill>
                <a:latin typeface="Calibri"/>
              </a:rPr>
              <a:t>TreeAlarm VMS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52044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3E4C59"/>
                </a:solidFill>
                <a:latin typeface="Calibri"/>
              </a:rPr>
              <a:t>Видеонаблюдение: запись, архив и автоматический поиск людей и машин в кадре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4617720"/>
            <a:ext cx="1463040" cy="54864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9834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7B8794"/>
                </a:solidFill>
                <a:latin typeface="Calibri"/>
              </a:rPr>
              <a:t>Обзор системы · новое: камера сама ведёт объект · поиск человека по всем камерам · экономия места на дисках · связь с картой мониторинга TreeAlarm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О чём пойдёт речь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454335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Что система умеет и как ей пользуется обычный человек — оператор или охранник.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Новое: камера сама ведёт объект в кадре, а человека или машину можно найти сразу по всем камерам.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Новое: архив ужимается сам — важное в кадре остаётся чётким, а места нужно заметно меньше.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Как камеры связываются с картой мониторинга TreeAlarm — это отдельная возможность, не обязательная.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Сколько это стоит и как поставить.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6291E"/>
                </a:solidFill>
                <a:latin typeface="Calibri"/>
              </a:rPr>
              <a:t>ЧАСТЬ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97180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Что умеет система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5196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AA5B1"/>
                </a:solidFill>
                <a:latin typeface="Calibri"/>
              </a:rPr>
              <a:t>Простыми словами — без технических подробностей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Если коротко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454335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Подключает обычные IP-камеры¹ и круглосуточно пишет с них видео.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Показывает живую картинку в браузере и позволяет отмотать архив на любой момент — как видеомагнитофон, только сразу по всем камерам.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Сама замечает в кадре людей, лица и машины и отмечает эти моменты, чтобы не пересматривать сутки записи ради двух минут.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Работает на вашем сервере. Видео никуда не уходит, подписки и интернета для работы не требуется.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Пользоваться системой бесплатно.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Что это даёт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454335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Нужный момент находится за минуты, а не за часы: система заранее отметила, когда в кадре кто-то был.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Не нужен отдельный человек, который целый день смотрит в мониторы, — достаточно смотреть на отмеченные события.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Ничего не зависит от чужого облака: ни оплаты за место, ни риска, что запись пропадёт вместе с чужим сервисом.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Камеры подойдут почти любые: если камера умеет ONVIF² — а это почти все камеры последних лет, — менять то, что уже стоит на объекте, не придётся.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Архив занимает меньше места, а значит хранится дольше на тех же дисках.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Несколько камер на одном экране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5989320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Экран делится на 2, 4, 6, 8, 9, 12 или 16 окошек — как удобно смотреть. Набор камер задаёт администратор, оператор просто открывает готовый экран.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Каждое окошко живёт своей жизнью: одно можно оставить в прямом эфире, другое отмотать в прошлое, третье развернуть на весь экран.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Поворотной камерой (PTZ³) можно управлять прямо отсюда — покрутить, приблизить, встать на сохранённую точку обзора.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Каждый сотрудник может собрать себе временный экран из нужных камер для разбора происшествия и передать его коллеге.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Каждое окошко берёт с камеры поток под свой размер, поэтому даже стена из шестнадцати камер не захлёбывается.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00316" y="1957101"/>
            <a:ext cx="4437583" cy="2797492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ideo-w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989105"/>
            <a:ext cx="4373575" cy="27334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4923758"/>
            <a:ext cx="437357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B8794"/>
                </a:solidFill>
                <a:latin typeface="Calibri"/>
              </a:rPr>
              <a:t>Четыре камеры на одном экране. Полосы внизу показывают, за какие промежутки времени запись есть.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Поиск нужного момента в записи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454335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Все камеры на экране отматываются вместе, одной ручкой: вы видите одно и то же время сразу со всех сторон.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Можно перейти на конкретную дату и время, шагнуть на полминуты назад или вперёд, перескочить на предыдущий день, где запись вообще есть.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Под картинкой — шкала времени: сразу видно, где запись есть, а где камера была выключена, и где система отметила события.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Из списка событий один щелчок — и вы уже смотрите этот момент со всех камер сразу.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Как система решает, когда писать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5989320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Писать постоянно — самый простой вариант: пишем, пока камера включена.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Писать только по тревоге — и это главное: система всё время держит последние секунды в памяти, поэтому в записи остаётся и то, что было ДО срабатывания, а не только после.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Не писать вовсе — например, для камеры, которую смотрят только вживую. Записывать и распознавать система начинает, когда камера поставлена «на охрану»⁴.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Сколько секунд сохранять до события и сколько после — задаётся обычными числами в настройках.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00316" y="2317921"/>
            <a:ext cx="4437583" cy="2075852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cording-profi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49925"/>
            <a:ext cx="4373575" cy="20118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4562938"/>
            <a:ext cx="437357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B8794"/>
                </a:solidFill>
                <a:latin typeface="Calibri"/>
              </a:rPr>
              <a:t>Три готовых режима записи. Их можно настроить или добавить свои.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Расписание записи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5989320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0">
                <a:solidFill>
                  <a:srgbClr val="3E4C59"/>
                </a:solidFill>
                <a:latin typeface="Calibri"/>
              </a:rPr>
              <a:t>•   Расписание рисуется мышкой по недельной сетке: закрасили рабочие часы — в это время пишем, остальное время не пишем.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0">
                <a:solidFill>
                  <a:srgbClr val="3E4C59"/>
                </a:solidFill>
                <a:latin typeface="Calibri"/>
              </a:rPr>
              <a:t>•   Если нужно точнее, часы и минуты можно вписать вручную, а отдельные даты — праздники, разовые мероприятия — задать отдельно.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0">
                <a:solidFill>
                  <a:srgbClr val="3E4C59"/>
                </a:solidFill>
                <a:latin typeface="Calibri"/>
              </a:rPr>
              <a:t>•   Запись можно начинать чуть раньше начала смены, чтобы не потерять первые минуты.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00316" y="2382310"/>
            <a:ext cx="4437583" cy="1947075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cording-schedu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414314"/>
            <a:ext cx="4373575" cy="18830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4498549"/>
            <a:ext cx="437357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B8794"/>
                </a:solidFill>
                <a:latin typeface="Calibri"/>
              </a:rPr>
              <a:t>Рабочие часы, закрашенные мышкой по неделе.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Диски и надёжность хранения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454335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3E4C59"/>
                </a:solidFill>
                <a:latin typeface="Calibri"/>
              </a:rPr>
              <a:t>•   Камере назначается не один диск, а несколько — по очереди. Первый занят или отвалился — запись сама уходит на следующий, никто ничего не теряет.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3E4C59"/>
                </a:solidFill>
                <a:latin typeface="Calibri"/>
              </a:rPr>
              <a:t>•   Дисков можно добавлять сколько нужно, в том числе сетевых хранилищ.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3E4C59"/>
                </a:solidFill>
                <a:latin typeface="Calibri"/>
              </a:rPr>
              <a:t>•   Старые записи и картинки событий удаляются автоматически — по сроку хранения и по занятому месту, так что диск не забьётся незаметно.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3E4C59"/>
                </a:solidFill>
                <a:latin typeface="Calibri"/>
              </a:rPr>
              <a:t>•   Если писать некуда — диск не назначен, не отвечает или выведен из эксплуатации, — система скажет об этом сразу и назовёт причину.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3E4C59"/>
                </a:solidFill>
                <a:latin typeface="Calibri"/>
              </a:rPr>
              <a:t>•   В списке камер видно, какая пишет прямо сейчас, а у какой записи просто хранятся.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Система сама смотрит в камеру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5989320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Система умеет находить в кадре людей, лица и транспорт. Ничего скачивать и настраивать отдельно не нужно — всё уже внутри.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Включается по каждой камере отдельно: где-то важны машины, где-то люди, а какие-то камеры можно вообще не нагружать.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Настройки простые: что искать, насколько уверенно система должна быть в находке, как часто заглядывать в картинку.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Режим «на охране» для этого не нужен: камера, которая просто пишет круглосуточно, тоже размечается событиями.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Работает на обычном сервере, видеокарта не обязательна. Распознавание берёт с камеры собственный поток и не отнимает картинку у оператора.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00316" y="1970118"/>
            <a:ext cx="4437583" cy="2771459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nalyti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002122"/>
            <a:ext cx="4373575" cy="27074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4910741"/>
            <a:ext cx="437357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B8794"/>
                </a:solidFill>
                <a:latin typeface="Calibri"/>
              </a:rPr>
              <a:t>Настройка распознавания для одной камеры: что искать и насколько придирчиво.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Что видит оператор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454335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Список событий: когда, на какой камере, сколько длилось, с маленькими картинками — что именно там было.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На живом видео вокруг человека или машины рисуется рамка — сразу видно, на что система обратила внимание.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Человек, который прошёл мимо пяти камер, остаётся одним событием, а не пятью. Система узнаёт его по внешнему виду и связывает проходы вместе — в том числе если он вышел из кадра и вернулся.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Из любого события — один щелчок в архив, ровно на этот момент.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Как добавляются камеры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5989320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0">
                <a:solidFill>
                  <a:srgbClr val="3E4C59"/>
                </a:solidFill>
                <a:latin typeface="Calibri"/>
              </a:rPr>
              <a:t>•   Система сама ищет камеры в сети и показывает, что нашла, — остаётся выбрать нужные. Если камера не нашлась, её можно добавить вручную по адресу.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0">
                <a:solidFill>
                  <a:srgbClr val="3E4C59"/>
                </a:solidFill>
                <a:latin typeface="Calibri"/>
              </a:rPr>
              <a:t>•   Здесь же для каждой камеры указывается, на какие диски писать и по какому расписанию.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0">
                <a:solidFill>
                  <a:srgbClr val="3E4C59"/>
                </a:solidFill>
                <a:latin typeface="Calibri"/>
              </a:rPr>
              <a:t>•   Вместо камеры можно подставить обычный видеофайл, и система будет работать с ним как с камерой. Удобно, чтобы показать систему заказчику или разобрать уже записанное происшествие.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00316" y="2169706"/>
            <a:ext cx="4437583" cy="2372283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mera-set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201710"/>
            <a:ext cx="4373575" cy="2308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4711153"/>
            <a:ext cx="437357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B8794"/>
                </a:solidFill>
                <a:latin typeface="Calibri"/>
              </a:rPr>
              <a:t>Слева — список камер, справа — настройки выбранной и живая картинка с неё.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Настройка самой камеры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5989320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0">
                <a:solidFill>
                  <a:srgbClr val="3E4C59"/>
                </a:solidFill>
                <a:latin typeface="Calibri"/>
              </a:rPr>
              <a:t>•   Лезть в веб-интерфейс каждой камеры не нужно: качество картинки, яркость, звук, повороты и реле настраиваются из одного места.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0">
                <a:solidFill>
                  <a:srgbClr val="3E4C59"/>
                </a:solidFill>
                <a:latin typeface="Calibri"/>
              </a:rPr>
              <a:t>•   Показываются только те настройки, которые эта камера действительно поддерживает, — ничего лишнего и ничего, что не сработает.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0">
                <a:solidFill>
                  <a:srgbClr val="3E4C59"/>
                </a:solidFill>
                <a:latin typeface="Calibri"/>
              </a:rPr>
              <a:t>•   Отсюда же выставляются часы камеры. Это важнее, чем кажется: если часы врут на десять минут, запись ляжет в архив не на то время, и найти её будет тяжело.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00316" y="2382310"/>
            <a:ext cx="4437583" cy="1947075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nvif-confi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414314"/>
            <a:ext cx="4373575" cy="18830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4498549"/>
            <a:ext cx="437357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B8794"/>
                </a:solidFill>
                <a:latin typeface="Calibri"/>
              </a:rPr>
              <a:t>Настройки качества, прочитанные из камеры, рядом — живая картинка с неё.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Тревоги от самих камер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454335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3E4C59"/>
                </a:solidFill>
                <a:latin typeface="Calibri"/>
              </a:rPr>
              <a:t>•   Многие камеры сами умеют замечать движение, пересечение линии, вход в запретную зону или срабатывание датчика на входе.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3E4C59"/>
                </a:solidFill>
                <a:latin typeface="Calibri"/>
              </a:rPr>
              <a:t>•   Система принимает такие сигналы, включает по ним запись и заносит их в общий список событий — рядом с тем, что нашла сама.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3E4C59"/>
                </a:solidFill>
                <a:latin typeface="Calibri"/>
              </a:rPr>
              <a:t>•   Готовые заготовки для обычных случаев уже есть, и видно, что именно камера присылает, — поэтому настроить получается быстро, даже с незнакомой моделью.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Кто и что имеет право видеть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454335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Вход по логину можно включить, а можно обойтись без него — например, в маленькой закрытой сети.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Права раздаются по каждой камере отдельно и по каждому действию: смотреть живое, смотреть архив, крутить камеру, управлять, скачивать записи.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Скачать запись себе — это отдельное право. Можно разрешить смотреть архив, но не разрешить уносить его с объекта.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Права проверяются на сервере, а не просто прячут кнопки в интерфейсе: обойти их, зная адрес, не получится.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6291E"/>
                </a:solidFill>
                <a:latin typeface="Calibri"/>
              </a:rPr>
              <a:t>ЧАСТЬ 2 · НОВОЕ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97180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Архив стал занимать меньше места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5196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AA5B1"/>
                </a:solidFill>
                <a:latin typeface="Calibri"/>
              </a:rPr>
              <a:t>Важное в кадре остаётся чётким, всё остальное ужимается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В чём была проблема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454335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Видеоархив — это диски, и они кончаются. Чем дольше нужно хранить записи, тем больше денег на железо.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Обычное сжатие видео не знает, что в кадре важно. Пустая стена и номер подъехавшей машины хранятся одинаково подробно.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А ведь система уже знает, где в кадре был человек или машина, — она сама их там нашла.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Значит, можно хранить подробно только эти места, а всё остальное — попроще.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Как это работает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709928"/>
            <a:ext cx="1929932" cy="1051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933"/>
                </a:solidFill>
                <a:latin typeface="Calibri"/>
              </a:rPr>
              <a:t>Камера пишет</a:t>
            </a:r>
            <a:br/>
            <a:r>
              <a:rPr sz="1300" b="1">
                <a:solidFill>
                  <a:srgbClr val="1F2933"/>
                </a:solidFill>
                <a:latin typeface="Calibri"/>
              </a:rPr>
              <a:t>как обычно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66024" y="2144268"/>
            <a:ext cx="192024" cy="182880"/>
          </a:xfrm>
          <a:prstGeom prst="rightArrow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08340" y="1709928"/>
            <a:ext cx="1929932" cy="1051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933"/>
                </a:solidFill>
                <a:latin typeface="Calibri"/>
              </a:rPr>
              <a:t>Система замечает</a:t>
            </a:r>
            <a:br/>
            <a:r>
              <a:rPr sz="1300" b="1">
                <a:solidFill>
                  <a:srgbClr val="1F2933"/>
                </a:solidFill>
                <a:latin typeface="Calibri"/>
              </a:rPr>
              <a:t>людей и машины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88565" y="2144268"/>
            <a:ext cx="192024" cy="182880"/>
          </a:xfrm>
          <a:prstGeom prst="rightArrow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30881" y="1709928"/>
            <a:ext cx="1929932" cy="1051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933"/>
                </a:solidFill>
                <a:latin typeface="Calibri"/>
              </a:rPr>
              <a:t>Позже, без спешки,</a:t>
            </a:r>
            <a:br/>
            <a:r>
              <a:rPr sz="1300" b="1">
                <a:solidFill>
                  <a:srgbClr val="1F2933"/>
                </a:solidFill>
                <a:latin typeface="Calibri"/>
              </a:rPr>
              <a:t>пересжимает запись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11105" y="2144268"/>
            <a:ext cx="192024" cy="182880"/>
          </a:xfrm>
          <a:prstGeom prst="rightArrow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53421" y="1709928"/>
            <a:ext cx="1929932" cy="10515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933"/>
                </a:solidFill>
                <a:latin typeface="Calibri"/>
              </a:rPr>
              <a:t>Важное осталось</a:t>
            </a:r>
            <a:br/>
            <a:r>
              <a:rPr sz="1300" b="1">
                <a:solidFill>
                  <a:srgbClr val="1F2933"/>
                </a:solidFill>
                <a:latin typeface="Calibri"/>
              </a:rPr>
              <a:t>чётким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33646" y="2144268"/>
            <a:ext cx="192024" cy="182880"/>
          </a:xfrm>
          <a:prstGeom prst="rightArrow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75962" y="1709928"/>
            <a:ext cx="1929932" cy="1051560"/>
          </a:xfrm>
          <a:prstGeom prst="roundRect">
            <a:avLst/>
          </a:prstGeom>
          <a:solidFill>
            <a:srgbClr val="D6291E"/>
          </a:solidFill>
          <a:ln w="12700">
            <a:solidFill>
              <a:srgbClr val="CBD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Файл занимает</a:t>
            </a:r>
            <a:br/>
            <a:r>
              <a:rPr sz="1300" b="1">
                <a:solidFill>
                  <a:srgbClr val="FFFFFF"/>
                </a:solidFill>
                <a:latin typeface="Calibri"/>
              </a:rPr>
              <a:t>вдвое меньше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64407"/>
            <a:ext cx="10545775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Живая запись не трогается: камера пишет как писала. Пересжатие идёт потом — можно поставить его на ночь или на выходные, когда сервер свободен.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Если в записи ничего не происходило, её не трогают вообще: экономить там нечего, а лишний раз пережимать видео вредно.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Всё делается само, по расписанию. От оператора не требуется ничего.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Что получилось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oi_chart_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933" y="1527048"/>
            <a:ext cx="7445828" cy="2606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407407"/>
            <a:ext cx="10545775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Записи, где что-то происходило, весят меньше: почти вдвое на тесте, на пятую часть на реальном архиве.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Экономия тем больше, чем меньшую часть кадра занимает важное.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На том же диске архив живёт двенадцать-семнадцать дней вместо десяти.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Качество там, где был человек или машина, не падает; выигрыша нет — остаётся оригинал.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925312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B8794"/>
                </a:solidFill>
                <a:latin typeface="Calibri"/>
              </a:rPr>
              <a:t>HEVC и H.264⁵ — два распространённых способа сжатия видео; проверили оба. На диаграмме — тестовая запись 1280×720; на клипе реального архива 2688×1520 экономия около пятой части. Пересжатие не трогает записи, в которых ничего не происходило.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Номер машины читается так же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5989320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0">
                <a:solidFill>
                  <a:srgbClr val="3E4C59"/>
                </a:solidFill>
                <a:latin typeface="Calibri"/>
              </a:rPr>
              <a:t>•   Именно то, ради чего ведётся запись, — номер, лицо, человек у двери — остаётся читаемым.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0">
                <a:solidFill>
                  <a:srgbClr val="3E4C59"/>
                </a:solidFill>
                <a:latin typeface="Calibri"/>
              </a:rPr>
              <a:t>•   Хуже становится там, где смотреть не на что: асфальт, стена, небо.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50" b="0">
                <a:solidFill>
                  <a:srgbClr val="3E4C59"/>
                </a:solidFill>
                <a:latin typeface="Calibri"/>
              </a:rPr>
              <a:t>•   Мы отдельно проверили, что запас качества берётся не впритык по границе объекта, а с полем вокруг него: так надёжнее, а места это почти не стоит.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00316" y="2913821"/>
            <a:ext cx="4437583" cy="884053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late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945825"/>
            <a:ext cx="4373575" cy="8200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3967038"/>
            <a:ext cx="437357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B8794"/>
                </a:solidFill>
                <a:latin typeface="Calibri"/>
              </a:rPr>
              <a:t>Один и тот же кадр: слева запись хранилась как обычно, справа — после пересжатия, вдвое меньшим файлом.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Что настраивает администратор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454335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Включать или не включать — решается по каждой камере. Где-то экономия заметная, где-то не нужна вовсе.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Через сколько часов после записи можно пережимать — чтобы свежий архив, который как раз смотрят, оставался нетронутым.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Какую часть кадра должны занимать объекты, чтобы запись вообще трогать: если человек стоит вплотную к камере, экономить не из чего.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3E4C59"/>
                </a:solidFill>
                <a:latin typeface="Calibri"/>
              </a:rPr>
              <a:t>•   В интерфейсе видно, какие куски архива уже пережаты, — оператор всегда понимает, что именно он смотрит.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6291E"/>
                </a:solidFill>
                <a:latin typeface="Calibri"/>
              </a:rPr>
              <a:t>ЧАСТЬ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97180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Связь с картой мониторинга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5196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AA5B1"/>
                </a:solidFill>
                <a:latin typeface="Calibri"/>
              </a:rPr>
              <a:t>Камеры как объекты на карте TreeAlarm. Возможность отдельная и не обязательная.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TreeAlarm — карта состояния объектов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5989320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TreeAlarm показывает на карте объекты — здания, помещения, оборудование, датчики — и их состояние.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Объекты вложены друг в друга: город, завод, цех, серверная, датчик. Тревога снизу поднимается наверх, поэтому проблема видна сразу на общем виде, а потом можно спуститься до конкретного датчика.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Хранится не только текущее состояние, но и вся история: можно вернуться на неделю назад и посмотреть, что происходило и что к чему привело.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Есть журнал событий, схемы помещений для объектов без привязки к карте и небольшие дополнительные модули — например, опрос оборудования по сети.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00316" y="2368734"/>
            <a:ext cx="4437583" cy="1974226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a-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400738"/>
            <a:ext cx="4373575" cy="19102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4512125"/>
            <a:ext cx="437357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B8794"/>
                </a:solidFill>
                <a:latin typeface="Calibri"/>
              </a:rPr>
              <a:t>Общий вид: объекты на карте, цветом показано их состояние.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История и журнал событий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3796" y="1773380"/>
            <a:ext cx="5245455" cy="2479135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a-re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05384"/>
            <a:ext cx="5181447" cy="24151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4403391"/>
            <a:ext cx="518144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B8794"/>
                </a:solidFill>
                <a:latin typeface="Calibri"/>
              </a:rPr>
              <a:t>Поиск в истории: где объекты находились за выбранный период.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92443" y="1713032"/>
            <a:ext cx="5245455" cy="2599830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a-even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447" y="1745036"/>
            <a:ext cx="5181447" cy="253582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4447" y="4463739"/>
            <a:ext cx="518144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B8794"/>
                </a:solidFill>
                <a:latin typeface="Calibri"/>
              </a:rPr>
              <a:t>Журнал событий с поиском и приложенными данными.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166360"/>
            <a:ext cx="1054577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Хранится не только «как сейчас», но и «как было» — по любому дню в прошлом.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Искать можно и по параметрам, и по участку карты.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Что даёт связка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5989320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Камеры сами появляются на карте как объекты — заводить их второй раз руками не надо.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Щёлкнули по камере на карте — сразу видите с неё живое видео или отматываете архив.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Прямо с карты камеру можно повернуть, поставить на охрану, включить запись.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Тревоги с камер попадают в общий журнал событий рядом с показаниями остального оборудования — картина по объекту получается одна.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Вход общий: сотрудник, вошедший в мониторинг, не логинится во второй раз.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>
                <a:solidFill>
                  <a:srgbClr val="3E4C59"/>
                </a:solidFill>
                <a:latin typeface="Calibri"/>
              </a:rPr>
              <a:t>•   Если связка не нужна — она просто выключена, и видеонаблюдение работает само по себе.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00316" y="2302141"/>
            <a:ext cx="4437583" cy="2107413"/>
          </a:xfrm>
          <a:prstGeom prst="rect">
            <a:avLst/>
          </a:prstGeom>
          <a:solidFill>
            <a:srgbClr val="CBD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a-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34145"/>
            <a:ext cx="4373575" cy="20434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4578718"/>
            <a:ext cx="4373575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B8794"/>
                </a:solidFill>
                <a:latin typeface="Calibri"/>
              </a:rPr>
              <a:t>Интерфейс TreeAlarm: список объектов, карта и свойства выбранного.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Установка и стоимость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454335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Ставится на один обычный сервер⁶ с Linux одной командой — система собрана в Docker⁷. Отдельный специалист по видеонаблюдению для установки не нужен.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Всё хранится у вас: и записи, и настройки, и база. Остановка и запуск системы записи не теряют.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Заранее ничего не настроено: добавляете свои камеры, выбираете диск и расписание — и система работает.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Пользоваться системой бесплатно. Исходный код выдаётся по запросу.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Что нужно от вас: сервер, место на дисках под архив и сеть до камер. Для десятка камер хватит недорогой машины.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Словарик: слова с номерами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572768"/>
          <a:ext cx="10820095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625535"/>
              </a:tblGrid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F2933"/>
                          </a:solidFill>
                          <a:latin typeface="Calibri"/>
                        </a:rPr>
                        <a:t>¹ IP-камера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3E4C59"/>
                          </a:solidFill>
                          <a:latin typeface="Calibri"/>
                        </a:rPr>
                        <a:t>Камера, которая подключается к сети, как компьютер, и отдаёт видео по проводу или по Wi-Fi. Старая аналоговая камера напрямую не подойдёт — ей нужен преобразователь.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F2933"/>
                          </a:solidFill>
                          <a:latin typeface="Calibri"/>
                        </a:rPr>
                        <a:t>² ONVIF</a:t>
                      </a:r>
                    </a:p>
                  </a:txBody>
                  <a:tcPr marL="146304" marR="14630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3E4C59"/>
                          </a:solidFill>
                          <a:latin typeface="Calibri"/>
                        </a:rPr>
                        <a:t>Общий язык, на котором разговаривают камеры разных производителей. Если камера его знает, система сама её найдёт в сети и настроит.</a:t>
                      </a:r>
                    </a:p>
                  </a:txBody>
                  <a:tcPr marL="146304" marR="146304" marT="64008" marB="6400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F2933"/>
                          </a:solidFill>
                          <a:latin typeface="Calibri"/>
                        </a:rPr>
                        <a:t>³ PTZ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3E4C59"/>
                          </a:solidFill>
                          <a:latin typeface="Calibri"/>
                        </a:rPr>
                        <a:t>Поворотная камера: её можно крутить, наклонять и приближать удалённо, не подходя к ней.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F2933"/>
                          </a:solidFill>
                          <a:latin typeface="Calibri"/>
                        </a:rPr>
                        <a:t>⁴ «На охране»</a:t>
                      </a:r>
                    </a:p>
                  </a:txBody>
                  <a:tcPr marL="146304" marR="14630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3E4C59"/>
                          </a:solidFill>
                          <a:latin typeface="Calibri"/>
                        </a:rPr>
                        <a:t>Режим камеры, в котором система обращает на неё внимание: пишет по тревоге и распознаёт происходящее. Снятая с охраны камера просто показывает картинку.</a:t>
                      </a:r>
                    </a:p>
                  </a:txBody>
                  <a:tcPr marL="146304" marR="146304" marT="64008" marB="6400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F2933"/>
                          </a:solidFill>
                          <a:latin typeface="Calibri"/>
                        </a:rPr>
                        <a:t>⁵ H.264 и HEVC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3E4C59"/>
                          </a:solidFill>
                          <a:latin typeface="Calibri"/>
                        </a:rPr>
                        <a:t>Два способа сжимать видео. HEVC (он же H.265) новее и ужимает сильнее; H.264 старее, зато его понимает любой браузер и любой телефон.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F2933"/>
                          </a:solidFill>
                          <a:latin typeface="Calibri"/>
                        </a:rPr>
                        <a:t>⁶ Сервер</a:t>
                      </a:r>
                    </a:p>
                  </a:txBody>
                  <a:tcPr marL="146304" marR="14630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3E4C59"/>
                          </a:solidFill>
                          <a:latin typeface="Calibri"/>
                        </a:rPr>
                        <a:t>Обычный компьютер, который работает круглосуточно и на котором стоит система. Отдельная стойка не нужна.</a:t>
                      </a:r>
                    </a:p>
                  </a:txBody>
                  <a:tcPr marL="146304" marR="146304" marT="64008" marB="6400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F2933"/>
                          </a:solidFill>
                          <a:latin typeface="Calibri"/>
                        </a:rPr>
                        <a:t>⁷ Docker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0">
                          <a:solidFill>
                            <a:srgbClr val="3E4C59"/>
                          </a:solidFill>
                          <a:latin typeface="Calibri"/>
                        </a:rPr>
                        <a:t>Способ устанавливать программы одним куском, вместе со всем, что им нужно для работы. Благодаря ему установка сводится к одной команде.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6291E"/>
                </a:solidFill>
                <a:latin typeface="Calibri"/>
              </a:rPr>
              <a:t>ПРИЛОЖЕНИЕ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97180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Для технических специалистов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5196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AA5B1"/>
                </a:solidFill>
                <a:latin typeface="Calibri"/>
              </a:rPr>
              <a:t>То же самое, но с точными названиями и цифрами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Технические характеристики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572768"/>
          <a:ext cx="10820095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619695"/>
              </a:tblGrid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F2933"/>
                          </a:solidFill>
                          <a:latin typeface="Calibri"/>
                        </a:rPr>
                        <a:t>Вход с камер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E4C59"/>
                          </a:solidFill>
                          <a:latin typeface="Calibri"/>
                        </a:rPr>
                        <a:t>RTSP, управление устройством по ONVIF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F2933"/>
                          </a:solidFill>
                          <a:latin typeface="Calibri"/>
                        </a:rPr>
                        <a:t>Живое видео в браузер</a:t>
                      </a:r>
                    </a:p>
                  </a:txBody>
                  <a:tcPr marL="146304" marR="14630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E4C59"/>
                          </a:solidFill>
                          <a:latin typeface="Calibri"/>
                        </a:rPr>
                        <a:t>WebRTC / WHEP через шлюз: браузер не обращается к медиасерверу напрямую. H.265 отдаётся как есть; перекодирование в H.264 — на VA-API, с откатом на CPU</a:t>
                      </a:r>
                    </a:p>
                  </a:txBody>
                  <a:tcPr marL="146304" marR="146304" marT="64008" marB="6400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F2933"/>
                          </a:solidFill>
                          <a:latin typeface="Calibri"/>
                        </a:rPr>
                        <a:t>Архив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E4C59"/>
                          </a:solidFill>
                          <a:latin typeface="Calibri"/>
                        </a:rPr>
                        <a:t>Фрагментированный MP4, воспроизведение по HLS; H.264 и H.265 пишутся как пришли, без перекодирования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F2933"/>
                          </a:solidFill>
                          <a:latin typeface="Calibri"/>
                        </a:rPr>
                        <a:t>Распознавание</a:t>
                      </a:r>
                    </a:p>
                  </a:txBody>
                  <a:tcPr marL="146304" marR="14630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E4C59"/>
                          </a:solidFill>
                          <a:latin typeface="Calibri"/>
                        </a:rPr>
                        <a:t>OpenVINO на CPU или GPU: YOLO11 (люди, транспорт) и отдельный детектор лиц; сопоставление по внешнему виду между камерами</a:t>
                      </a:r>
                    </a:p>
                  </a:txBody>
                  <a:tcPr marL="146304" marR="146304" marT="64008" marB="6400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F2933"/>
                          </a:solidFill>
                          <a:latin typeface="Calibri"/>
                        </a:rPr>
                        <a:t>Пересжатие архива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E4C59"/>
                          </a:solidFill>
                          <a:latin typeface="Calibri"/>
                        </a:rPr>
                        <a:t>Intel Quick Sync (VPL, mfxExtEncoderROI), VA-API или CPU (x265 / x264) — выбирается автоматически, GPU не обязателен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F2933"/>
                          </a:solidFill>
                          <a:latin typeface="Calibri"/>
                        </a:rPr>
                        <a:t>Вход и права</a:t>
                      </a:r>
                    </a:p>
                  </a:txBody>
                  <a:tcPr marL="146304" marR="146304" marT="64008" marB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E4C59"/>
                          </a:solidFill>
                          <a:latin typeface="Calibri"/>
                        </a:rPr>
                        <a:t>Keycloak (опционально), права по камере на пять действий, проверка на сервере на каждом запросе</a:t>
                      </a:r>
                    </a:p>
                  </a:txBody>
                  <a:tcPr marL="146304" marR="146304" marT="64008" marB="64008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F2933"/>
                          </a:solidFill>
                          <a:latin typeface="Calibri"/>
                        </a:rPr>
                        <a:t>Развёртывание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E4C59"/>
                          </a:solidFill>
                          <a:latin typeface="Calibri"/>
                        </a:rPr>
                        <a:t>Docker Compose, готовые образы; порты 5134/tcp, 8554/tcp, 8889/tcp и 8189/udp (медиа WebRTC)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1F2933"/>
                          </a:solidFill>
                          <a:latin typeface="Calibri"/>
                        </a:rPr>
                        <a:t>Автонаведение и поиск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3E4C59"/>
                          </a:solidFill>
                          <a:latin typeface="Calibri"/>
                        </a:rPr>
                        <a:t>Один контур управления на камеру, цель по детекциям CV/ONVIF, калибровка монтажа; поиск похожих — по Re-ID (человек, лицо, транспорт, номер)</a:t>
                      </a:r>
                    </a:p>
                  </a:txBody>
                  <a:tcPr marL="146304" marR="146304" marT="64008" marB="64008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897880"/>
            <a:ext cx="1082009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B8794"/>
                </a:solidFill>
                <a:latin typeface="Calibri"/>
              </a:rPr>
              <a:t>Браузеры: архив H.264 играет везде. H.265 требует Firefox с libavcodec-extra, Chrome на системе со свежим VA-API либо аппаратного декодирования на macOS и Windows 11.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Архитектура и цифры по пересжатию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454335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Набор небольших сервисов, общающихся по gRPC; изменения конфигурации разъезжаются публикацией событий, а не опросом.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Масштабируется вширь: несколько медиароутеров MediaMTX, несколько пар «рекордер + хранилище» по узлам, воркеры распознавания шардируются по хэшу, веб-слой множится репликами.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Пересжатие: зоне вокруг найденного объекта задаётся отрицательная дельта QP, фону — положительная; прямоугольники выравниваются по блочной сетке кодера.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Замер на тестовой сцене 1280×720 при CQP 28 на Intel Quick Sync: HEVC 8,38 → 4,82 МБ (−42%), H.264 7,05 → 4,50 МБ (−36%). На клипе реального архива 2688×1520 — 39,55 → 31,23 МБ: защита выдаётся по бюджету площади кадра, иначе на крупных объектах файл растёт.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Поле вокруг рамки важнее силы усиления: расширение с 0 до 64 пикселей даёт вдесятеро больший выигрыш, чем утроение дельты QP, при том же размере файла.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Живой транскод HEVC→H.264 идёт через ту же библиотеку: декодирование и кодирование на VA-API, −43% CPU на поток (i7-12700, iGPU). Где браузер понимает H.265, транскода нет вовсе.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Коротко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454335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3E4C59"/>
                </a:solidFill>
                <a:latin typeface="Calibri"/>
              </a:rPr>
              <a:t>•   Готовая система видеонаблюдения: пишет, хранит, показывает и сама находит в кадре людей и машины. Ставится на ваш сервер и работает без интернета.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3E4C59"/>
                </a:solidFill>
                <a:latin typeface="Calibri"/>
              </a:rPr>
              <a:t>•   Новое: камера сама ведёт объект в кадре, человека или машину можно найти сразу по всем камерам, а архив занимает заметно меньше места — номер и лицо при этом остаются читаемыми.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0">
                <a:solidFill>
                  <a:srgbClr val="3E4C59"/>
                </a:solidFill>
                <a:latin typeface="Calibri"/>
              </a:rPr>
              <a:t>•   При желании камеры подключаются к карте мониторинга TreeAlarm и становятся её частью. Но система самодостаточна и работает сама по себе.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892040"/>
            <a:ext cx="10820095" cy="12344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4892040"/>
            <a:ext cx="82296" cy="1234440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138928"/>
            <a:ext cx="999713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933"/>
                </a:solidFill>
                <a:latin typeface="Calibri"/>
              </a:rPr>
              <a:t>Пользоваться бесплатно · исходный код по запросу</a:t>
            </a:r>
            <a:br/>
            <a:r>
              <a:rPr sz="1600" b="1">
                <a:solidFill>
                  <a:srgbClr val="1F2933"/>
                </a:solidFill>
                <a:latin typeface="Calibri"/>
              </a:rPr>
              <a:t>treealarm.dev · Telegram: @treealarm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Камера сама ведёт объект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454335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Оператор щёлкает по человеку или машине в кадре — поворотная камера дальше держит его в кадре сама.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Можно не щёлкать: камере задаётся, за кем следить в первую очередь, и она выбирает цель сама — круглосуточно, даже когда никто не смотрит.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Камера не гоняется за центром кадра, а не даёт объекту уйти за край: картинка не дёргается зря.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Объект пропал на секунду — камера узнаёт его по внешнему виду и продолжает вести того же, а не первого попавшегося.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Каждую камеру система один раз обучает сама: пробует повернуть и смотрит, куда поехала картинка. Поэтому камеру, висящую хоть боком, ведёт правильно.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2933"/>
                </a:solidFill>
                <a:latin typeface="Calibri"/>
              </a:rPr>
              <a:t>Найти этого же человека на других камерах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43584"/>
            <a:ext cx="1051560" cy="50292"/>
          </a:xfrm>
          <a:prstGeom prst="rect">
            <a:avLst/>
          </a:prstGeom>
          <a:solidFill>
            <a:srgbClr val="D62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10454335" cy="46908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Щёлкнули по человеку в кадре или по картинке события — система показывает, где ещё он попадал в объектив: на каких камерах и когда.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Искать можно и по фотографии: загрузили снимок — система найдёт похожие появления в архиве.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Работает по людям, лицам, машинам и автомобильным номерам.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Задаются период, список камер и строгость сходства — чем строже, тем меньше лишнего в ответе.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Каждое найденное появление открывается в архиве одним щелчком, ровно на этом моменте.</a:t>
            </a:r>
          </a:p>
          <a:p>
            <a:pPr algn="l" marL="237744" indent="-237744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3E4C59"/>
                </a:solidFill>
                <a:latin typeface="Calibri"/>
              </a:rPr>
              <a:t>•   Это подсказка, а не опознание: система показывает похожих, решение остаётся за человеком.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550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TreeAlarm VMS · treealarm.dev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3550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B879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